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3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834640"/>
            <a:ext cx="201168" cy="17373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2834640"/>
            <a:ext cx="11987784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Reliability &amp; Operations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— Site Reliability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2026  ·  Global Software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5486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5  ·  Platform Reliability &amp;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Executive Scorecard — June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" y="6629400"/>
            <a:ext cx="12024360" cy="22860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4768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Confidential (IP Level 3)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11521440" cy="34747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context:  ~2B platform calls processed in North America in June  ·  Revenue run-rate: ~$14.0M/month  ·  Revenue at risk per P1 hour: ~$19,400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283464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347472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0840" y="1600200"/>
            <a:ext cx="137160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146304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Actual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646920" y="1600200"/>
            <a:ext cx="73152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424160" y="1600200"/>
            <a:ext cx="114300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69880" y="1600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187452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874520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87452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8745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1874520"/>
            <a:ext cx="731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0" y="1874520"/>
            <a:ext cx="1143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Compliance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1920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we meeting our service commitments?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19202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99.5%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83880" y="19202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92640" y="192024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652760" y="2057400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441448"/>
            <a:ext cx="283464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441448"/>
            <a:ext cx="347472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2441448"/>
            <a:ext cx="137160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441448"/>
            <a:ext cx="146304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2441448"/>
            <a:ext cx="73152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24160" y="2441448"/>
            <a:ext cx="114300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 Remaining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27340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Dynatrace SLO configuration in progress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46120" y="24871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reliability headroom remains?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66560" y="248716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 20%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83880" y="24871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92640" y="2487168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652760" y="2624328"/>
            <a:ext cx="182880" cy="1828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008376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3008376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3008376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3008376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46920" y="3008376"/>
            <a:ext cx="731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24160" y="3008376"/>
            <a:ext cx="1143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Impacted Minutes (CIM)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46120" y="305409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customer-facing outage minutes this month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66560" y="305409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P1 / P2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83880" y="30540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P1 incidents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692640" y="3054096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0652760" y="3191256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3575304"/>
            <a:ext cx="283464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0" y="3575304"/>
            <a:ext cx="347472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20840" y="3575304"/>
            <a:ext cx="137160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38160" y="3575304"/>
            <a:ext cx="146304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46920" y="3575304"/>
            <a:ext cx="73152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24160" y="3575304"/>
            <a:ext cx="114300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602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Time to Restore (MTTR)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38679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1× High MTTR breach (DIT) — process issue resolved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246120" y="36210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of recovery after impact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766560" y="36210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≤ 2h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≤ 4h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18388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Critical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High breach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692640" y="3621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10652760" y="3758184"/>
            <a:ext cx="182880" cy="1828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" y="4142232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4142232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20840" y="4142232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4142232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46920" y="4142232"/>
            <a:ext cx="731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24160" y="4142232"/>
            <a:ext cx="1143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Failure Rate (CFR)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5760" y="4434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GitHub Actions + JSM correlation in progress (Q3)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246120" y="41879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deployments that caused degradation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766560" y="418795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5%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183880" y="41879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692640" y="4187952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10652760" y="4325112"/>
            <a:ext cx="182880" cy="1828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0040" y="4709160"/>
            <a:ext cx="283464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0" y="4709160"/>
            <a:ext cx="347472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4709160"/>
            <a:ext cx="137160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38160" y="4709160"/>
            <a:ext cx="146304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46920" y="4709160"/>
            <a:ext cx="73152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424160" y="4709160"/>
            <a:ext cx="1143000" cy="54864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576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Detection Ratio (PDR)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65760" y="5001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JSM classification field required (Q3)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246120" y="475488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we finding problems before customers do?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766560" y="47548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80%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183880" y="47548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692640" y="4754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10652760" y="4892040"/>
            <a:ext cx="182880" cy="1828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Brightlayer Cloud (BLC/Fiji), Lighting, DIT.  Full portfolio mapping (Power, EPMS, DCIM) in progress — Q3 target.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5486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5  ·  Platform Reliability &amp;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Uptime &amp; Availability — Brightlayer Platforms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" y="6629400"/>
            <a:ext cx="12024360" cy="22860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4768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Confidential (IP Level 3)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5486400" cy="34747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America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2697480" cy="11887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Compliance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4767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2697480" y="2057400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618488"/>
            <a:ext cx="2697480" cy="11887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Calls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94767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~2B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20040" y="2862072"/>
            <a:ext cx="5486400" cy="438912"/>
          </a:xfrm>
          <a:prstGeom prst="rect">
            <a:avLst/>
          </a:prstGeom>
          <a:solidFill>
            <a:srgbClr val="EAF4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98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this period: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8308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P1  ·  0 P2  ·  3 P3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2999232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5584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at significant production scale. SLA compliance sustained across all monitored services.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1234440"/>
            <a:ext cx="5486400" cy="34747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344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1618488"/>
            <a:ext cx="2697480" cy="11887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Compliance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194767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8458200" y="2057400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1618488"/>
            <a:ext cx="2697480" cy="11887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Calls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0" y="194767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080760" y="2862072"/>
            <a:ext cx="5486400" cy="4389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898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this period: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4380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P1  ·  0 P2  ·  0 P3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247120" y="2999232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35584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SLAs at current traffic volumes. Lower volume provides stable foundation for growth. Regional on-call coverage expansion planned Q3.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5120640"/>
            <a:ext cx="11521440" cy="822960"/>
          </a:xfrm>
          <a:prstGeom prst="rect">
            <a:avLst/>
          </a:prstGeom>
          <a:solidFill>
            <a:srgbClr val="EEF4FB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166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  Business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&amp; Availability protects revenue and enables enterprise customer trust.  At current run-rate (~$14.0M/month), each hour of P1 downtime represents ~$19,400 in revenue at risk.  SLA compliance is the platform's hard commitment to customers.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5486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5  ·  Platform Reliability &amp;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Products — SRE Mean Time to Restore (MTTR)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" y="6629400"/>
            <a:ext cx="12024360" cy="22860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4768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Confidential (IP Level 3)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measures how quickly we recover from infrastructure incidents.  Faster MTTR = fewer Customer Impacted Minutes = lower revenue exposure.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74320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15087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45720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150876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11880" y="1508760"/>
            <a:ext cx="146304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1508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MTTR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(target ≤ 2h)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0" y="1508760"/>
            <a:ext cx="146304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1508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MTTR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(target ≤ 4h)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29400" y="1508760"/>
            <a:ext cx="82296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150876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1508760"/>
            <a:ext cx="54864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508760"/>
            <a:ext cx="475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92440" y="1508760"/>
            <a:ext cx="3749040" cy="32918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9016" y="1508760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1837944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1837944"/>
            <a:ext cx="457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1837944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1837944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1837944"/>
            <a:ext cx="822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837944"/>
            <a:ext cx="548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1837944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8745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Cloud (BLC / Fiji)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45536" y="1874520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48456" y="1874520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57216" y="1874520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65976" y="187452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35240" y="2066544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18745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Fiji 3.0 deployment automation reduced blast radius 97%. 30+ services independently deployable.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2496312"/>
            <a:ext cx="274320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2496312"/>
            <a:ext cx="45720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2496312"/>
            <a:ext cx="1463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2496312"/>
            <a:ext cx="1463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2496312"/>
            <a:ext cx="8229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496312"/>
            <a:ext cx="5486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2440" y="2496312"/>
            <a:ext cx="3749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5328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Lighting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45536" y="253288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48456" y="2532888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57216" y="2532888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665976" y="253288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635240" y="2724912"/>
            <a:ext cx="182880" cy="1828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25328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fully under SRE monitoring. Improvement sustained vs. prior quarter.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0040" y="315468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8960" y="3154680"/>
            <a:ext cx="457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11880" y="315468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0" y="315468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29400" y="3154680"/>
            <a:ext cx="822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98080" y="3154680"/>
            <a:ext cx="548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315468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19125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DIT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145536" y="3191256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48456" y="3191256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157216" y="3191256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breach (process)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665976" y="319125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635240" y="3383280"/>
            <a:ext cx="182880" cy="1828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0" y="31912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Breach caused by incorrect ServiceNow request format — not API/system failure. Corrective action in May. JSM migration will eliminate root cause.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0040" y="3813048"/>
            <a:ext cx="274320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08960" y="3813048"/>
            <a:ext cx="45720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1880" y="3813048"/>
            <a:ext cx="1463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20640" y="3813048"/>
            <a:ext cx="1463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29400" y="3813048"/>
            <a:ext cx="8229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98080" y="3813048"/>
            <a:ext cx="5486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92440" y="3813048"/>
            <a:ext cx="3749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38496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Power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145536" y="3849624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648456" y="3849624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157216" y="3849624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665976" y="3849624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635240" y="4041648"/>
            <a:ext cx="182880" cy="1828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38160" y="38496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SRE monitoring onboarding in progress — Q3 target.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20040" y="4471416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08960" y="4471416"/>
            <a:ext cx="457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11880" y="4471416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20640" y="4471416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29400" y="4471416"/>
            <a:ext cx="822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98080" y="4471416"/>
            <a:ext cx="548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92440" y="4471416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450799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EPMS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145536" y="4507992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3648456" y="4507992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157216" y="4507992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665976" y="450799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635240" y="4700016"/>
            <a:ext cx="182880" cy="1828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38160" y="450799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SRE monitoring onboarding in progress — Q3 target.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20040" y="5129784"/>
            <a:ext cx="274320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08960" y="5129784"/>
            <a:ext cx="45720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11880" y="5129784"/>
            <a:ext cx="1463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20640" y="5129784"/>
            <a:ext cx="1463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5129784"/>
            <a:ext cx="8229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98080" y="5129784"/>
            <a:ext cx="5486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92440" y="5129784"/>
            <a:ext cx="37490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" y="51663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Brightlayer DCIM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145536" y="5166360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3648456" y="5166360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157216" y="5166360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6665976" y="516636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635240" y="5358384"/>
            <a:ext cx="182880" cy="1828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38160" y="51663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SRE monitoring onboarding in progress — Q3 target.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5486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5  ·  Platform Reliability &amp;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Operating Guardrails &amp; Roadmap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" y="6629400"/>
            <a:ext cx="12024360" cy="22860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4768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Confidential (IP Level 3)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57784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GUARDRAILS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481328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1790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Protection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" y="1700784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Compliance — Uptime &amp; Availability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883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SLA commitments met (quarterly)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17520" y="1938528"/>
            <a:ext cx="128016" cy="128016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91109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99.5%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94760" y="1938528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191109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99.3–99.5%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0" y="1938528"/>
            <a:ext cx="128016" cy="128016"/>
          </a:xfrm>
          <a:prstGeom prst="ellipse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191109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99.3%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2231136"/>
            <a:ext cx="557784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267712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245059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Impacted Minutes (CIM)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2633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customer-visible outage 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2688336"/>
            <a:ext cx="128016" cy="128016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266090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P1/P2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794760" y="2688336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0208" y="266090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29200" y="2688336"/>
            <a:ext cx="128016" cy="128016"/>
          </a:xfrm>
          <a:prstGeom prst="ellipse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266090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1 P1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" y="2980944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175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Efficiency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4048" y="32004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Time to Restore (MTTR)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of recovery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17520" y="3438144"/>
            <a:ext cx="128016" cy="128016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72968" y="341071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≤ 2h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794760" y="343814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0208" y="341071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≤ 4h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029200" y="3438144"/>
            <a:ext cx="128016" cy="128016"/>
          </a:xfrm>
          <a:prstGeom prst="ellipse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341071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Breach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0040" y="3730752"/>
            <a:ext cx="557784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76732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Headroom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" y="395020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 Remaining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 before SLO policy triggers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17520" y="4187952"/>
            <a:ext cx="128016" cy="128016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72968" y="41605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 20%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794760" y="4187952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0208" y="41605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20%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29200" y="4187952"/>
            <a:ext cx="128016" cy="128016"/>
          </a:xfrm>
          <a:prstGeom prst="ellipse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84648" y="41605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0040" y="4480560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51713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Safety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84048" y="470001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Failure Rate (CFR)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84048" y="4882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Deployments causing degradation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4937760"/>
            <a:ext cx="128016" cy="128016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72968" y="49103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5%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794760" y="493776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50208" y="49103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5–15%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029200" y="4937760"/>
            <a:ext cx="128016" cy="128016"/>
          </a:xfrm>
          <a:prstGeom prst="ellipse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84648" y="49103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 15%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20040" y="5230368"/>
            <a:ext cx="557784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526694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Coverage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84048" y="5449824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Burden Ratio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84048" y="5632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capacity vs. 168-hr coverage need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017520" y="5687568"/>
            <a:ext cx="128016" cy="128016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72968" y="56601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1:4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794760" y="5687568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50208" y="56601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1:2–1:3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29200" y="5687568"/>
            <a:ext cx="128016" cy="128016"/>
          </a:xfrm>
          <a:prstGeom prst="ellipse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84648" y="56601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1:2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126480" y="1188720"/>
            <a:ext cx="544068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118872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ROADMAP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26480" y="1481328"/>
            <a:ext cx="5440680" cy="274320"/>
          </a:xfrm>
          <a:prstGeom prst="rect">
            <a:avLst/>
          </a:prstGeom>
          <a:solidFill>
            <a:srgbClr val="00B2A9"/>
          </a:solidFill>
          <a:ln w="12700">
            <a:solidFill>
              <a:srgbClr val="00B2A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148132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August 2026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217920" y="178308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Pillar 5 SRE section to MOR (this deck)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17920" y="2020824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Revenue-at-risk paragraph in every MOR narrative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217920" y="2258568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Explicit product coverage gap disclosure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17920" y="2496312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On-Call Burden Ratio reported monthly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26480" y="3054096"/>
            <a:ext cx="5440680" cy="2743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0" y="3054096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September 2026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217920" y="3355848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 product portfolio coverage (JSM Assets tier mapping)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217920" y="3593592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CFR activated via GitHub Actions + JSM correlation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217920" y="3831336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IOM security compliance line (CrowdStrike CSPM)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217920" y="406908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EMEA regional reliability depth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26480" y="4626864"/>
            <a:ext cx="5440680" cy="2743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17920" y="462686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Q4 2026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217920" y="4928616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PDR live (JSM incident classification field enforced)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217920" y="516636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MTTD from Dynatrace Davis AI timestamps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217920" y="5404104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Toil Ratio baseline + reduction target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217920" y="5641848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workload SLOs (Nexus AI, PGPU, BL Intelligence Platform)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217920" y="5879592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FinOps line: cloud cost per revenue dollar (Apptio)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20040" y="6455664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9D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Dependency: JSM taxonomy standardization (Q3) is the critical path for PDR, CFR, and full product-level MTTR reporting.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2026-06-17T12:37:21Z</dcterms:created>
  <dcterms:modified xsi:type="dcterms:W3CDTF">2026-06-17T12:37:21Z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MSIP_Label_f865c8e0-d4a3-422c-b11f-58c087912067_Enabled">
    <vt:lpwstr>True</vt:lpwstr>
  </property>
  <property fmtid="{D5CDD505-2E9C-101B-9397-08002B2CF9AE}" pid="3" name="MSIP_Label_f865c8e0-d4a3-422c-b11f-58c087912067_SiteId">
    <vt:lpwstr>d6525c95-b906-431a-b926-e9b51ba43cc4</vt:lpwstr>
  </property>
  <property fmtid="{D5CDD505-2E9C-101B-9397-08002B2CF9AE}" pid="4" name="MSIP_Label_f865c8e0-d4a3-422c-b11f-58c087912067_SetDate">
    <vt:lpwstr>2026-06-17T12:38:33Z</vt:lpwstr>
  </property>
  <property fmtid="{D5CDD505-2E9C-101B-9397-08002B2CF9AE}" pid="5" name="MSIP_Label_f865c8e0-d4a3-422c-b11f-58c087912067_Name">
    <vt:lpwstr>Confidential (IP3)</vt:lpwstr>
  </property>
  <property fmtid="{D5CDD505-2E9C-101B-9397-08002B2CF9AE}" pid="6" name="MSIP_Label_f865c8e0-d4a3-422c-b11f-58c087912067_ActionId">
    <vt:lpwstr>495fbead-58eb-4bad-96a3-b7fbd416a50b</vt:lpwstr>
  </property>
  <property fmtid="{D5CDD505-2E9C-101B-9397-08002B2CF9AE}" pid="7" name="MSIP_Label_f865c8e0-d4a3-422c-b11f-58c087912067_Removed">
    <vt:lpwstr>False</vt:lpwstr>
  </property>
  <property fmtid="{D5CDD505-2E9C-101B-9397-08002B2CF9AE}" pid="8" name="MSIP_Label_f865c8e0-d4a3-422c-b11f-58c087912067_Extended_MSFT_Method">
    <vt:lpwstr>Standard</vt:lpwstr>
  </property>
  <property fmtid="{D5CDD505-2E9C-101B-9397-08002B2CF9AE}" pid="9" name="Sensitivity">
    <vt:lpwstr>Confidential (IP3)</vt:lpwstr>
  </property>
</Properties>
</file>