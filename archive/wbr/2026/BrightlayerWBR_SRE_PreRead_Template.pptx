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121889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11880"/>
            <a:ext cx="12188952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B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BUSINESS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Pre-Read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Reliability &amp; Operations  ·  Pillar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of 17 Jun 2026  ·  Pre-read generated: Mon 16 Jun 17:00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65176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Pre-read published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 16 Jun  ·  17:00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931920"/>
            <a:ext cx="265176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frozen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17 Jun  ·  09:00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265176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0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17 Jun  (exception-only)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3931920"/>
            <a:ext cx="265176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52560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Manager · Global Software Ops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Exception-only discussion.  Reds and Ambers only.  Speak to data.  Green = no airtime.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  ·  © 2026 Eaton.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Overview — SRE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questions  ·  Exception-only  ·  00–10 min slot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" y="1188720"/>
            <a:ext cx="384048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188720"/>
            <a:ext cx="3694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 What did customers experience last week?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4630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996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Compliance (Tier-1, all regions)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1737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72821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282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212848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49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Remaining (BLC/Fiji)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2487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72491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in progress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83280" y="247802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4780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962656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Impacted Minutes (CIM)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3236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2278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278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712464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/ P2 Incidents this week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39867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97764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977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8600" y="4462272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4988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— Critical (target ≤ 2h)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472744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727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" y="5212080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5248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— High (target ≤ 4h)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" y="5486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547725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54772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06240" y="1188720"/>
            <a:ext cx="384048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9392" y="1188720"/>
            <a:ext cx="3694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 How did our business do last week?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206240" y="14630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14996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Failure Rate (CFR)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97680" y="1737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97680" y="19751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Actions+JSM correlation Q3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360920" y="172821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17282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206240" y="2212848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2249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Frequency (BLC/Fiji)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7680" y="2487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deploys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60920" y="247802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24780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206240" y="2962656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 Ratio (manual / repetitive work)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97680" y="3236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~33%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297680" y="34747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 elite benchmark; automation backlog active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60920" y="32278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32278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06240" y="3712464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Burden Ratio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297680" y="39867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1:2.1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297680" y="422452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1:4 (Google SRE); expansion business case in progress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360920" y="397764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60920" y="3977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206240" y="4462272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0" y="44988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Signal-to-Noise Ratio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29768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297680" y="49743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OpsGenie feed Q3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360920" y="472744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60920" y="4727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183880" y="1188720"/>
            <a:ext cx="3840480" cy="237744"/>
          </a:xfrm>
          <a:prstGeom prst="rect">
            <a:avLst/>
          </a:prstGeom>
          <a:solidFill>
            <a:srgbClr val="00B2A9"/>
          </a:solidFill>
          <a:ln w="12700">
            <a:solidFill>
              <a:srgbClr val="00B2A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57032" y="1188720"/>
            <a:ext cx="3694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 Are we on track to hit targets?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183880" y="14630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5320" y="14996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Hoshin gate: SLO ≥ 99.9% (Tier-1)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275320" y="1737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On track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1338560" y="172821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338560" y="17282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183880" y="2212848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75320" y="2249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policy status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275320" y="2487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freeze active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1338560" y="247802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338560" y="24780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183880" y="2962656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532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taxonomy + PDR activation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275320" y="3236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 (Q3)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275320" y="34747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path for PDR, CFR, product-level MTTR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1338560" y="32278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8560" y="32278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183880" y="3712464"/>
            <a:ext cx="38404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7532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portfolio SRE coverage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275320" y="39867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6 products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275320" y="422452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Power, EPMS, DCIM onboarding Q3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1338560" y="397764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338560" y="3977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183880" y="4462272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75320" y="44988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expansion (headcount)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27532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 active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275320" y="49743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1:2.1 vs 1:4 benchmark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11338560" y="472744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338560" y="4727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Scoreboard — Cloud Services  ·  Lane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Pradeep Abraham  ·  SRE reliability signals  ·  Source: Dynatrace · JSM · OpsGenie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207008"/>
            <a:ext cx="233172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20700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78608" y="1207008"/>
            <a:ext cx="128016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207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04488" y="1207008"/>
            <a:ext cx="100584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56048" y="1207008"/>
            <a:ext cx="100584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07608" y="1207008"/>
            <a:ext cx="59436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2070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47688" y="1207008"/>
            <a:ext cx="1371600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2070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6-Week Trend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65008" y="1207008"/>
            <a:ext cx="3913632" cy="256032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120700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1463040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8608" y="146304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04488" y="1463040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6048" y="1463040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07608" y="146304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1463040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1463040"/>
            <a:ext cx="39136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14996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Compliance — Tier-1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" y="179222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DQL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24328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DQL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50208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99.9%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01768" y="15910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66420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6642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75120" y="1627632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84848" y="1627760"/>
            <a:ext cx="82296" cy="255904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94576" y="1627709"/>
            <a:ext cx="82296" cy="255955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04304" y="1627811"/>
            <a:ext cx="82296" cy="255853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14032" y="1627632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1627760"/>
            <a:ext cx="82296" cy="255904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60020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BLC/Fiji · Lighting · DIT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01168" y="2075688"/>
            <a:ext cx="233172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78608" y="2075688"/>
            <a:ext cx="12801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2075688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6048" y="2075688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07608" y="2075688"/>
            <a:ext cx="5943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47688" y="2075688"/>
            <a:ext cx="137160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65008" y="2075688"/>
            <a:ext cx="3913632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" y="21122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Remaining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46888" y="240487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SLOs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624328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SLOs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950208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20%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01768" y="22037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35040" y="227685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0" y="22768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75120" y="227685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yet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110728" y="221284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Dynatrace SLO config in progress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1168" y="2688336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78608" y="2688336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04488" y="2688336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56048" y="2688336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07608" y="2688336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47688" y="2688336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65008" y="2688336"/>
            <a:ext cx="39136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6888" y="27249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Detection Ratio (PDR)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46888" y="301752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classification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624328" y="2852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classification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950208" y="2852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80%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01768" y="28163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035040" y="288950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0" y="28895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675120" y="28895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yet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110728" y="282549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JSM classification field required (Q3)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01168" y="3300984"/>
            <a:ext cx="233172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78608" y="3300984"/>
            <a:ext cx="12801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04488" y="3300984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56048" y="3300984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07608" y="3300984"/>
            <a:ext cx="5943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47688" y="3300984"/>
            <a:ext cx="137160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3300984"/>
            <a:ext cx="3913632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6888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Failure Rate (CFR)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46888" y="363016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 + JSM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624328" y="3465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 + JSM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950208" y="3465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5%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001768" y="3429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035040" y="350215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35040" y="35021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675120" y="35021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yet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110728" y="3438144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Correlation script in progress (Q3)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01168" y="3913632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78608" y="3913632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04488" y="3913632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956048" y="3913632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07608" y="3913632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47688" y="3913632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65008" y="3913632"/>
            <a:ext cx="39136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6888" y="3950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— Critical (target ≤ 2h)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246888" y="424281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timestamps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624328" y="40782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timestamps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950208" y="4078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001768" y="40416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035040" y="411480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35040" y="41148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675120" y="4297680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84848" y="4078224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94576" y="4297680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4297680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114032" y="4297680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223760" y="4297680"/>
            <a:ext cx="82296" cy="3657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10728" y="405079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01168" y="4526280"/>
            <a:ext cx="233172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578608" y="4526280"/>
            <a:ext cx="12801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04488" y="4526280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56048" y="4526280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007608" y="4526280"/>
            <a:ext cx="5943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47688" y="4526280"/>
            <a:ext cx="137160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65008" y="4526280"/>
            <a:ext cx="3913632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46888" y="45628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— High (target ≤ 4h)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246888" y="485546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timestamps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2624328" y="4690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timestamps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3950208" y="4690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5001768" y="46542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035040" y="472744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35040" y="4727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675120" y="4690872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84848" y="4818888"/>
            <a:ext cx="82296" cy="12801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894576" y="4818888"/>
            <a:ext cx="82296" cy="12801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04304" y="4910328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114032" y="4818888"/>
            <a:ext cx="82296" cy="12801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223760" y="4910328"/>
            <a:ext cx="82296" cy="3657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110728" y="466344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 breach (W17) — process issue, corrected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201168" y="5138928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578608" y="5138928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904488" y="513892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956048" y="513892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07608" y="5138928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647688" y="5138928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065008" y="5138928"/>
            <a:ext cx="39136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46888" y="517550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Impacted Minutes (CIM)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246888" y="54681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start/restore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2624328" y="5303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start/restore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3950208" y="5303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P1/P2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5001768" y="52669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min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6035040" y="534009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035040" y="53400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6675120" y="5522976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784848" y="5303520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894576" y="5522976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04304" y="5522976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14032" y="5522976"/>
            <a:ext cx="82296" cy="3657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223760" y="5522976"/>
            <a:ext cx="82296" cy="3657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110728" y="527608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W15 event: P3 Lighting (pre-SRE monitoring)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201168" y="5751576"/>
            <a:ext cx="233172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578608" y="5751576"/>
            <a:ext cx="12801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904488" y="5751576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956048" y="5751576"/>
            <a:ext cx="100584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07608" y="5751576"/>
            <a:ext cx="59436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647688" y="5751576"/>
            <a:ext cx="137160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065008" y="5751576"/>
            <a:ext cx="3913632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46888" y="57881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Burden Ratio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246888" y="608076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OpsGenie rotations</a:t>
            </a:r>
            <a:endParaRPr lang="en-US" sz="700" dirty="0"/>
          </a:p>
        </p:txBody>
      </p:sp>
      <p:sp>
        <p:nvSpPr>
          <p:cNvPr id="165" name="Text 163"/>
          <p:cNvSpPr/>
          <p:nvPr/>
        </p:nvSpPr>
        <p:spPr>
          <a:xfrm>
            <a:off x="2624328" y="5916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OpsGenie rotations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3950208" y="5916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1:4 (Google SRE)</a:t>
            </a:r>
            <a:endParaRPr lang="en-US" sz="800" dirty="0"/>
          </a:p>
        </p:txBody>
      </p:sp>
      <p:sp>
        <p:nvSpPr>
          <p:cNvPr id="167" name="Text 165"/>
          <p:cNvSpPr/>
          <p:nvPr/>
        </p:nvSpPr>
        <p:spPr>
          <a:xfrm>
            <a:off x="5001768" y="58795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1:2.1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6035040" y="595274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035040" y="5952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6675120" y="5989320"/>
            <a:ext cx="82296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784848" y="5977128"/>
            <a:ext cx="82296" cy="19507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94576" y="5952744"/>
            <a:ext cx="82296" cy="21945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004304" y="5940552"/>
            <a:ext cx="82296" cy="231648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114032" y="5928360"/>
            <a:ext cx="82296" cy="24384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223760" y="5916168"/>
            <a:ext cx="82296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110728" y="588873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benchmark; headcount business case active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Scoreboard — SA&amp;O  ·  SRE Toil &amp; Operational Signals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David Knowles  ·  Source: JSM · Tenrox · OpsGenie · Dynatrace Davis 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188720"/>
            <a:ext cx="11777472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1163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OPERATIONAL EFFICIENCY — Added to SA&amp;O Scoreboard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481328"/>
            <a:ext cx="210312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50008" y="1481328"/>
            <a:ext cx="228600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81728" y="1481328"/>
            <a:ext cx="118872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16168" y="1481328"/>
            <a:ext cx="128016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14813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42048" y="1481328"/>
            <a:ext cx="100584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7768" y="1481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293608" y="1481328"/>
            <a:ext cx="59436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14813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933688" y="1481328"/>
            <a:ext cx="1371600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6-Week Trend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351008" y="1481328"/>
            <a:ext cx="1627632" cy="2560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96728" y="148132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/ Actions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" y="1737360"/>
            <a:ext cx="2103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0008" y="1737360"/>
            <a:ext cx="2286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1737360"/>
            <a:ext cx="11887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6168" y="1737360"/>
            <a:ext cx="12801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42048" y="1737360"/>
            <a:ext cx="1005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3608" y="1737360"/>
            <a:ext cx="594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3688" y="1737360"/>
            <a:ext cx="1371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51008" y="1737360"/>
            <a:ext cx="1627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" y="17739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 Ratio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6888" y="204825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SRE work that is manual, repetitive, automatable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95728" y="19385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SRE work that is manual, repetitive, automatable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2744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+ Tenrox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61888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20%  (elite: &lt; 10%)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87768" y="19933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~33%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21040" y="20848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20848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961120" y="2096193"/>
            <a:ext cx="82296" cy="217239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70848" y="2080676"/>
            <a:ext cx="82296" cy="232756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80576" y="2072917"/>
            <a:ext cx="82296" cy="240515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90304" y="2057400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00032" y="2057400"/>
            <a:ext cx="82296" cy="256032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09760" y="2057400"/>
            <a:ext cx="82296" cy="256032"/>
          </a:xfrm>
          <a:prstGeom prst="rect">
            <a:avLst/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96728" y="1828800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 elite benchmark.  Primary driver: manual SNOW request handling, alert triage.  Automation backlog: 4 items in active sprint.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01168" y="2651760"/>
            <a:ext cx="210312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50008" y="2651760"/>
            <a:ext cx="228600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2651760"/>
            <a:ext cx="118872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16168" y="2651760"/>
            <a:ext cx="128016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42048" y="2651760"/>
            <a:ext cx="100584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93608" y="2651760"/>
            <a:ext cx="59436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33688" y="2651760"/>
            <a:ext cx="1371600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51008" y="2651760"/>
            <a:ext cx="1627632" cy="896112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" y="2688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Signal-to-Noise Ratio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6888" y="296265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fired alerts that result in human action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395728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fired alerts that result in human action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2926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OpsGenie analytics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961888" y="2926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70% actionable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287768" y="29077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29992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2999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961120" y="29992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yet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396728" y="2743200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OpsGenie → WBR data feed not yet connected.  Baseline measurement Q3.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01168" y="3566160"/>
            <a:ext cx="2103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50008" y="3566160"/>
            <a:ext cx="2286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81728" y="3566160"/>
            <a:ext cx="11887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16168" y="3566160"/>
            <a:ext cx="12801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42048" y="3566160"/>
            <a:ext cx="1005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93608" y="3566160"/>
            <a:ext cx="594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33688" y="3566160"/>
            <a:ext cx="1371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51008" y="3566160"/>
            <a:ext cx="1627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6888" y="3602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Time to Detect (MTTD)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46888" y="387705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timestamp (Davis AI) vs JSM incident creation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2395728" y="3767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timestamp (Davis AI) vs JSM incident creation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727448" y="3840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Davis AI + JSM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961888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↓  (baseline Q3)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287768" y="38221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321040" y="39136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21040" y="39136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8961120" y="39136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yet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0396728" y="3657600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Requires Dynatrace Davis AI timestamp → JSM field mapping.  Q3 dependency.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01168" y="4983480"/>
            <a:ext cx="11777472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5029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🔴  EXCEPTION — Toil Ratio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65760" y="5285232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Issue: Toil Ratio sustained at 33% for 6+ weeks — 3× elite benchmark and primary limiter on capacity for value-add work.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Impact: ~33% of SRE engineering hours consumed by manual, non-automatable work.  Directly limits feature/automation delivery.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4 automation items active in sprint (SNOW request format correction, alert deduplication, runbook automation).  Target: 25% by end Q3.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SRE Manager  ·  Due: 30 Sep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Exceptions — SRE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format: Issue → Impact → Action → Owner → Due  ·  Reds first, then Ambers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188720"/>
            <a:ext cx="11777472" cy="1627632"/>
          </a:xfrm>
          <a:prstGeom prst="rect">
            <a:avLst/>
          </a:prstGeom>
          <a:solidFill>
            <a:srgbClr val="FDECEA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6187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60120" y="126187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SRE-2026-W19-01  ·  SRE / REST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12618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Open  ·  PIR: No  ·  Owner: SRE Manager  ·  Due: 30 Sep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153619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153619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 Ratio sustained at 33% — 6 consecutive weeks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19385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193852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~33% of SRE capacity unavailable for automation/feature work.  Limits PDR and MTTD improvement trajectory.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34086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234086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automation items active in current sprint: SNOW→JSM request validation, OpsGenie alert deduplication rules, 2 runbook automations.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2926080"/>
            <a:ext cx="11777472" cy="1627632"/>
          </a:xfrm>
          <a:prstGeom prst="rect">
            <a:avLst/>
          </a:prstGeom>
          <a:solidFill>
            <a:srgbClr val="FFF8EC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992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99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" y="299923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SRE-2026-W19-02  ·  SRE / Platform Eng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29992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Open  ·  PIR: No  ·  Owner: SRE Manager  ·  Due: Approval target: 31 Jul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2735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" y="327355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Burden Ratio at 1:2.1 — below 1:4 Google SRE benchmark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3675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367588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engineers covering 168 hrs/week across 2 time zones.  Burnout risk.  Business continuity risk at $14M/month revenue scale.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0782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407822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Headcount business case submitted.  Approval pending.  Interim mitigation: cross-training REST engineers for expanded rotation.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4663440"/>
            <a:ext cx="11777472" cy="1627632"/>
          </a:xfrm>
          <a:prstGeom prst="rect">
            <a:avLst/>
          </a:prstGeom>
          <a:solidFill>
            <a:srgbClr val="FFF8EC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73659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7365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60120" y="473659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SRE-2026-W19-03  ·  SRE / Platform Eng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7365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Open  ·  PIR: No  ·  Owner: SRE Manager + JSM Admin  ·  Due: 30 Sep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501091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" y="501091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taxonomy standardization blocking PDR, CFR, and full MTTR product coverage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54132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" y="541324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Tier-1 KPIs (PDR, CFR, Error Budget) cannot be reported until classification field and service tier mapping are complete.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58155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5840" y="581558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project scoped.  Classification field design in progress.  Service tier mapping kickoff scheduled 24 Jun with product leads.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 Radar — SRE Items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Auto-promoted if any threshold breached  ·  Source: JSM · OpsGenie · Dynatrace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188720"/>
            <a:ext cx="11777472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1163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 GUARDRAILS (§6) — SRE-RELEVANT ITEMS  ·  Green = pass, auto-suppress  ·  Amber/Red = exception slot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481328"/>
            <a:ext cx="100584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" y="148132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52728" y="1481328"/>
            <a:ext cx="365760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1481328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 Item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56048" y="1481328"/>
            <a:ext cx="146304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481328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64808" y="1481328"/>
            <a:ext cx="12801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48132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90688" y="1481328"/>
            <a:ext cx="59436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27264" y="1481328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430768" y="1481328"/>
            <a:ext cx="3547872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14813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Breach / Notes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1719072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2728" y="1719072"/>
            <a:ext cx="3657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719072"/>
            <a:ext cx="1463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1719072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0688" y="1719072"/>
            <a:ext cx="594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0768" y="1719072"/>
            <a:ext cx="354787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98448" y="17739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P1/P2 without mitigation owner &gt; 2 hours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01768" y="1810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10528" y="1810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18120" y="184708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18470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76488" y="177393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this period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01168" y="2185416"/>
            <a:ext cx="10058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2728" y="2185416"/>
            <a:ext cx="365760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56048" y="2185416"/>
            <a:ext cx="14630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4808" y="2185416"/>
            <a:ext cx="12801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0688" y="2185416"/>
            <a:ext cx="5943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30768" y="2185416"/>
            <a:ext cx="3547872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" y="2276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298448" y="2240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P3 incidents &gt; 7 days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01768" y="2276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10528" y="2276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18120" y="23134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23134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476488" y="22402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this period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01168" y="2651760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52728" y="2651760"/>
            <a:ext cx="3657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56048" y="2651760"/>
            <a:ext cx="1463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64808" y="2651760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90688" y="2651760"/>
            <a:ext cx="594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30768" y="2651760"/>
            <a:ext cx="354787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298448" y="27066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defects &gt; 72 hours open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01768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10528" y="2743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18120" y="277977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277977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476488" y="270662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this period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01168" y="3118104"/>
            <a:ext cx="10058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52728" y="3118104"/>
            <a:ext cx="365760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56048" y="3118104"/>
            <a:ext cx="14630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64808" y="3118104"/>
            <a:ext cx="12801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90688" y="3118104"/>
            <a:ext cx="5943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30768" y="3118104"/>
            <a:ext cx="3547872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6888" y="3209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298448" y="3172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Budget &lt; 20% remaining (any Tier-1 service)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001768" y="3209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exhausted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10528" y="32095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818120" y="324612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18120" y="32461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476488" y="317296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not yet live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01168" y="3584448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52728" y="3584448"/>
            <a:ext cx="3657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56048" y="3584448"/>
            <a:ext cx="1463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64808" y="3584448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90688" y="3584448"/>
            <a:ext cx="594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430768" y="3584448"/>
            <a:ext cx="354787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888" y="3675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298448" y="3639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PDR &lt; 60% for 2 consecutive weeks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01768" y="3675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≥ 80%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10528" y="3675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818120" y="371246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18120" y="37124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476488" y="363931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not yet live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01168" y="4050792"/>
            <a:ext cx="10058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52728" y="4050792"/>
            <a:ext cx="365760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56048" y="4050792"/>
            <a:ext cx="146304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64808" y="4050792"/>
            <a:ext cx="12801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90688" y="4050792"/>
            <a:ext cx="594360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30768" y="4050792"/>
            <a:ext cx="3547872" cy="448056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6888" y="4142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298448" y="4105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breach — any Tier-1 service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001768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510528" y="4142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breaches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818120" y="417880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18120" y="41788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8476488" y="410565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this period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01168" y="4517136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252728" y="4517136"/>
            <a:ext cx="3657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56048" y="4517136"/>
            <a:ext cx="1463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64808" y="4517136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90688" y="4517136"/>
            <a:ext cx="594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30768" y="4517136"/>
            <a:ext cx="354787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6888" y="4608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1298448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Overdue WBR actions &gt; 14 days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001768" y="4608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510528" y="4608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818120" y="464515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18120" y="46451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8476488" y="457200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01168" y="4983480"/>
            <a:ext cx="100584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52728" y="4983480"/>
            <a:ext cx="365760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56048" y="4983480"/>
            <a:ext cx="146304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464808" y="4983480"/>
            <a:ext cx="128016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790688" y="4983480"/>
            <a:ext cx="59436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30768" y="4983480"/>
            <a:ext cx="3547872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46888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1298448" y="50383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burden ratio &lt; 1:2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001768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1:2 (minimum)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510528" y="5074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1:2.1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818120" y="511149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818120" y="5111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8476488" y="503834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Sustained — see Exception SRE-W19-02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01168" y="5449824"/>
            <a:ext cx="1005840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252728" y="5449824"/>
            <a:ext cx="3657600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956048" y="5449824"/>
            <a:ext cx="1463040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64808" y="5449824"/>
            <a:ext cx="1280160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790688" y="5449824"/>
            <a:ext cx="594360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30768" y="5449824"/>
            <a:ext cx="3547872" cy="448056"/>
          </a:xfrm>
          <a:prstGeom prst="rect">
            <a:avLst/>
          </a:prstGeom>
          <a:solidFill>
            <a:srgbClr val="FDECEA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46888" y="55412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1298448" y="5504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 Ratio &gt; 33% sustained ≥ 4 weeks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5001768" y="5541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20%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6510528" y="55412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33%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818120" y="557784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E70000"/>
          </a:solidFill>
          <a:ln w="12700">
            <a:solidFill>
              <a:srgbClr val="E7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818120" y="55778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8476488" y="55046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W14–W19 (6 consecutive weeks) — see Exception SRE-W19-01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201168" y="5916168"/>
            <a:ext cx="100584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252728" y="5916168"/>
            <a:ext cx="365760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956048" y="5916168"/>
            <a:ext cx="146304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464808" y="5916168"/>
            <a:ext cx="128016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790688" y="5916168"/>
            <a:ext cx="594360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430768" y="5916168"/>
            <a:ext cx="3547872" cy="448056"/>
          </a:xfrm>
          <a:prstGeom prst="rect">
            <a:avLst/>
          </a:prstGeom>
          <a:solidFill>
            <a:srgbClr val="FFF8EC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46888" y="6007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1298448" y="5971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monitoring gap — Tier-1 service without Dynatrace SLO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5001768" y="6007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gaps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6510528" y="6007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products (Power, EPMS, DCIM)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7818120" y="604418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818120" y="604418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8476488" y="597103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Q3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WBR  ·  SRE Pre-Read  ·  Week of 17 Jun 2026  ·  Pre-read generated: Mon 16 Jun 17:00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18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(IP Level 3)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486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Culture Evidence Loop &amp; Open 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§15 WBR Playbook  ·  Published within 24 hours of WBR  ·  Scribe: [Name]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693408"/>
            <a:ext cx="1170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Eaton. All Rights Reserved.  ·  Source: Dynatrace · JSM · OpsGenie · GitHub Actions · Swarmia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188720"/>
            <a:ext cx="539496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5248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CULTURE EVIDENCE LOOP  (§15)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481328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536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Reds surfaced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1792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1828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3 last week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92040" y="170078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0078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" y="2139696"/>
            <a:ext cx="53949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194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Help-needed answered in-meeting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2450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2487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this WBR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235915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591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2798064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8529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time-to-decision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8840" y="31455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≤ 5 min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17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1168" y="3456432"/>
            <a:ext cx="53949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decisions with owner + date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" y="3767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48840" y="38039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100%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92040" y="367588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1168" y="411480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169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commitments met by next WBR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92608" y="4425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4884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≥ 90%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92040" y="4334256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CD2D8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3342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806440" y="1188720"/>
            <a:ext cx="617220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9592" y="1188720"/>
            <a:ext cx="6025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REGISTER &amp; OPEN ACTIONS  (§13)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06440" y="1481328"/>
            <a:ext cx="100584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43016" y="148132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858000" y="1481328"/>
            <a:ext cx="100584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148132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909560" y="1481328"/>
            <a:ext cx="210312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46136" y="14813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058400" y="1481328"/>
            <a:ext cx="128016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94976" y="148132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384280" y="1481328"/>
            <a:ext cx="594360" cy="237744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20856" y="1481328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806440" y="1719072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1719072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19072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58400" y="1719072"/>
            <a:ext cx="1280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84280" y="1719072"/>
            <a:ext cx="594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177393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DEC-W19-01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903720" y="177393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955280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headcount expansion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55280" y="2103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— pending approval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0104120" y="1847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Manager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430000" y="18470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Jul 2026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806440" y="2377440"/>
            <a:ext cx="10058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2377440"/>
            <a:ext cx="10058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09560" y="2377440"/>
            <a:ext cx="210312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58400" y="2377440"/>
            <a:ext cx="12801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384280" y="2377440"/>
            <a:ext cx="5943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0" y="243230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ACT-W19-01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903720" y="243230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955280" y="24140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JSM taxonomy + classification field design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55280" y="27614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104120" y="25054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Mgr + JSM Admin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1430000" y="25054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Sep 2026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806440" y="3035808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58000" y="3035808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909560" y="3035808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58400" y="3035808"/>
            <a:ext cx="1280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384280" y="3035808"/>
            <a:ext cx="594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0" y="309067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ACT-W19-02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903720" y="309067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955280" y="3072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OpsGenie alert deduplication rules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955280" y="34198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Sprint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0104120" y="31638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1430000" y="31638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Jul 2026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806440" y="3694176"/>
            <a:ext cx="10058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58000" y="3694176"/>
            <a:ext cx="100584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09560" y="3694176"/>
            <a:ext cx="210312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58400" y="3694176"/>
            <a:ext cx="12801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384280" y="3694176"/>
            <a:ext cx="594360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52160" y="37490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ACT-W19-03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903720" y="37490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95528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CFR correlation script (GH Actions + JSM)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955280" y="40782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— Q3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10104120" y="38221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1430000" y="38221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Sep 2026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806440" y="4352544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4352544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09560" y="4352544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58400" y="4352544"/>
            <a:ext cx="1280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4280" y="4352544"/>
            <a:ext cx="594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52160" y="44074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ACT-W19-04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903720" y="44074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7955280" y="4389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Dynatrace SLO config — all Tier-1 services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955280" y="4736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10104120" y="4480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Manager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11430000" y="4480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Aug 2026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01168" y="6419088"/>
            <a:ext cx="11777472" cy="219456"/>
          </a:xfrm>
          <a:prstGeom prst="rect">
            <a:avLst/>
          </a:prstGeom>
          <a:solidFill>
            <a:srgbClr val="EEF4FB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92608" y="6428232"/>
            <a:ext cx="1159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norms (Playbook §14):  "Exceptions only. Reds/ambers welcome. We leave with decisions, owners, and dates. Speak to data. If it's green, we move on."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2026-06-17T12:55:06Z</dcterms:created>
  <dcterms:modified xsi:type="dcterms:W3CDTF">2026-06-17T12:55:06Z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f865c8e0-d4a3-422c-b11f-58c087912067_Enabled">
    <vt:lpwstr>True</vt:lpwstr>
  </property>
  <property fmtid="{D5CDD505-2E9C-101B-9397-08002B2CF9AE}" pid="3" name="MSIP_Label_f865c8e0-d4a3-422c-b11f-58c087912067_SiteId">
    <vt:lpwstr>d6525c95-b906-431a-b926-e9b51ba43cc4</vt:lpwstr>
  </property>
  <property fmtid="{D5CDD505-2E9C-101B-9397-08002B2CF9AE}" pid="4" name="MSIP_Label_f865c8e0-d4a3-422c-b11f-58c087912067_SetDate">
    <vt:lpwstr>2026-06-17T13:33:55Z</vt:lpwstr>
  </property>
  <property fmtid="{D5CDD505-2E9C-101B-9397-08002B2CF9AE}" pid="5" name="MSIP_Label_f865c8e0-d4a3-422c-b11f-58c087912067_Name">
    <vt:lpwstr>Confidential (IP3)</vt:lpwstr>
  </property>
  <property fmtid="{D5CDD505-2E9C-101B-9397-08002B2CF9AE}" pid="6" name="MSIP_Label_f865c8e0-d4a3-422c-b11f-58c087912067_ActionId">
    <vt:lpwstr>48504b0b-0a0b-4579-82ad-421d2e909de0</vt:lpwstr>
  </property>
  <property fmtid="{D5CDD505-2E9C-101B-9397-08002B2CF9AE}" pid="7" name="MSIP_Label_f865c8e0-d4a3-422c-b11f-58c087912067_Removed">
    <vt:lpwstr>False</vt:lpwstr>
  </property>
  <property fmtid="{D5CDD505-2E9C-101B-9397-08002B2CF9AE}" pid="8" name="MSIP_Label_f865c8e0-d4a3-422c-b11f-58c087912067_Extended_MSFT_Method">
    <vt:lpwstr>Standard</vt:lpwstr>
  </property>
  <property fmtid="{D5CDD505-2E9C-101B-9397-08002B2CF9AE}" pid="9" name="Sensitivity">
    <vt:lpwstr>Confidential (IP3)</vt:lpwstr>
  </property>
</Properties>
</file>